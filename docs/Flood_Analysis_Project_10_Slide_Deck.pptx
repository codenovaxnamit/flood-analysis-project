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420624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012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5F7FA"/>
                </a:solidFill>
              </a:rPr>
              <a:t>Cover Slide Reserved</a:t>
            </a:r>
          </a:p>
          <a:p>
            <a:pPr algn="ctr"/>
            <a:r>
              <a:rPr sz="1400">
                <a:solidFill>
                  <a:srgbClr val="B4BFD6"/>
                </a:solidFill>
              </a:rPr>
              <a:t>Keep this page for title, team name, institution, and presenter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420624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012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5F7FA"/>
                </a:solidFill>
              </a:rPr>
              <a:t>Problem Statement Reserved</a:t>
            </a:r>
          </a:p>
          <a:p>
            <a:pPr algn="ctr"/>
            <a:r>
              <a:rPr sz="1400">
                <a:solidFill>
                  <a:srgbClr val="B4BFD6"/>
                </a:solidFill>
              </a:rPr>
              <a:t>Keep this page for the flood-risk challenge, urgency, target users, and pain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3.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An AI-enabled flood intelligence platform for Delhi that combines geospatial risk mapping, scenario simulation, live telemetry, and decision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18488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Delhi</a:t>
            </a:r>
          </a:p>
          <a:p>
            <a:r>
              <a:rPr sz="1000">
                <a:solidFill>
                  <a:srgbClr val="B4BFD6"/>
                </a:solidFill>
              </a:rPr>
              <a:t>Core City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508760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618488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2 Views</a:t>
            </a:r>
          </a:p>
          <a:p>
            <a:r>
              <a:rPr sz="1000">
                <a:solidFill>
                  <a:srgbClr val="B4BFD6"/>
                </a:solidFill>
              </a:rPr>
              <a:t>Map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9944" y="1508760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618488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FastAPI</a:t>
            </a:r>
          </a:p>
          <a:p>
            <a:r>
              <a:rPr sz="1000">
                <a:solidFill>
                  <a:srgbClr val="B4BFD6"/>
                </a:solidFill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17736" y="1508760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82328" y="1618488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SQLite</a:t>
            </a:r>
          </a:p>
          <a:p>
            <a:r>
              <a:rPr sz="1000">
                <a:solidFill>
                  <a:srgbClr val="B4BFD6"/>
                </a:solidFill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40"/>
            <a:ext cx="3703320" cy="3246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What The Platform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044952"/>
            <a:ext cx="3319272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Shows ward-level flood risk across Delhi using corrected ward boundary data.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Displays micro-hotspot dot maps from scenario prediction output.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Lets users search wards, inspect details, and view mitigation guidance per ward.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Supports scenario CSV upload for custom rainfall-driven prediction runs.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2606040"/>
            <a:ext cx="3337560" cy="3246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715768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Who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044952"/>
            <a:ext cx="2953512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Municipal corporations and ward officers.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Disaster management teams.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Urban planners and drainage engineers.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Citizens through better preparedness and faster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606040"/>
            <a:ext cx="3566160" cy="3246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7157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044952"/>
            <a:ext cx="3182112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Flooding is not only a rainfall problem; it is a visibility, coordination, and readiness problem.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This project turns raw environmental inputs into actionable operational intelligence.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It moves the conversation from reaction to prediction and preparedness.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4. 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The platform connects ingestion, prediction, storage, APIs, and visualization in one continuous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103120" cy="448056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Input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93392"/>
            <a:ext cx="1719072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Rainfall CSV uploads with date, lat, lon, rainfall.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Ward boundary GeoJSON/JSON data.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Reference grid coordinates.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Live weather from wttr.in.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54480"/>
            <a:ext cx="2331720" cy="448056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664208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Processing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1993392"/>
            <a:ext cx="1947672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Column standardization.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Interpolation to the model grid.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Feature engineering for rainfall trends, lag signals, and seasonal features.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Static feature merge for spatial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554480"/>
            <a:ext cx="2377440" cy="448056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Prediction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1993392"/>
            <a:ext cx="1993392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Ensemble model combines XGB-like model, random forest, and neural network.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Produces calibrated flood risk scores for each grid coordinate.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Creates downloadable coordinate-risk CSV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448056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6420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Delivery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182112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FastAPI serves health, latest-run, run-history, upload, and download endpoints.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SQLite stores pipeline run metadata, artifacts, status, and summary JSON.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Next.js frontend renders maps, charts, hotspot panels, and simulation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5. Data Pipeline And ML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The prediction flow is designed to convert sparse rainfall observations into a city-scale flood-risk surface.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5394960" cy="457200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Pipeline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93392"/>
            <a:ext cx="501091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1. Upload rainfall observations in CSV format.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2. Standardize columns into date, grid_latitude, grid_longitude, precipitation_mm.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3. Interpolate rainfall values to the full Delhi reference grid using inverse-distance weighting.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4. Build inference features such as lag1, lag2, lag3, rain_3d, rain_5d, rain_7d, cumulative rainfall, average intensity, trend, month, month_sin, month_cos, and seasonal encoder.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5. Merge static coordinate features from the processed model assets.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6. Run ensemble inference and output flood-risk probabilities.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57200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6420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Modeling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501091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The project uses supervised learning to estimate proxy flood risk from engineered environmental features.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Three models contribute to the final score: GradientBoostedStumps, RandomStumpForest, and TorchMLP.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Weighted blending improves robustness instead of relying on a single model family.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The final output is sorted by risk, summarized, saved, and exposed through the API for the frontend.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6. Geospatial Intelligence And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The frontend is designed to make flood intelligence understandable to both technical and operational stakeholders.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520440" cy="452628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Map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313639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Ward risk map for area-level vulnerability.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Dot map for predicted hotspot points.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Map type selector to avoid visual clutter.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Focused ward highlighting and automatic map fly-to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20440" cy="452628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70992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Decision Support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039112"/>
            <a:ext cx="313639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Ward search bar to instantly locate a ward and open its details.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Hotspot panel with exposure, drainage efficiency, hydraulic load, readiness score, and risk trend.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Action window per ward with prevention guidance and immediate response suggestions.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566160" cy="452628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0992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Operational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39112"/>
            <a:ext cx="318211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City readiness gauge, risk distribution charts, KPI cards, and priority alerts.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Weather telemetry integration to keep the UI context-aware.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Simulation controls to stress-test rainfall increase scenarios before real incidents happen.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7. Scenario Pipeline, Backend, And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The backend transforms the project from a static dashboard into an interactive forecasting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91056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delhi-weekly-upload</a:t>
            </a:r>
          </a:p>
          <a:p>
            <a:r>
              <a:rPr sz="1000">
                <a:solidFill>
                  <a:srgbClr val="B4BFD6"/>
                </a:solidFill>
              </a:rPr>
              <a:t>Test Scenario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481328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591056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48</a:t>
            </a:r>
          </a:p>
          <a:p>
            <a:r>
              <a:rPr sz="1000">
                <a:solidFill>
                  <a:srgbClr val="B4BFD6"/>
                </a:solidFill>
              </a:rPr>
              <a:t>Input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9944" y="1481328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591056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2968</a:t>
            </a:r>
          </a:p>
          <a:p>
            <a:r>
              <a:rPr sz="1000">
                <a:solidFill>
                  <a:srgbClr val="B4BFD6"/>
                </a:solidFill>
              </a:rPr>
              <a:t>Interpolated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17736" y="1481328"/>
            <a:ext cx="2743200" cy="868680"/>
          </a:xfrm>
          <a:prstGeom prst="roundRect">
            <a:avLst/>
          </a:prstGeom>
          <a:solidFill>
            <a:srgbClr val="162C54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82328" y="1591056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</a:rPr>
              <a:t>742</a:t>
            </a:r>
          </a:p>
          <a:p>
            <a:r>
              <a:rPr sz="1000">
                <a:solidFill>
                  <a:srgbClr val="B4BFD6"/>
                </a:solidFill>
              </a:rPr>
              <a:t>Output Grid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40"/>
            <a:ext cx="3657600" cy="329184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Backend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044952"/>
            <a:ext cx="327355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FastAPI app exposes /health, /api/pipeline/runs, /api/pipeline/runs/latest, /api/pipeline/runs/{id}, and download endpoints.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The backend accepts multipart CSV uploads and triggers the full ML pipeline.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Artifacts are saved for auditability and re-use.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606040"/>
            <a:ext cx="3383280" cy="329184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71576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Database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044952"/>
            <a:ext cx="299923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SQLite is used for lightweight pipeline-run storage.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The pipeline_runs table stores run_id, scenario_name, timestamps, row counts, summary JSON, output file paths, and error messages.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This enables history tracking, latest-run retrieval, and downloadable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606040"/>
            <a:ext cx="3611880" cy="329184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2715768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Why This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044952"/>
            <a:ext cx="322783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Users do not need to retrain the model to test new rainfall cases.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Municipal teams can submit scenarios and get structured risk output in minutes.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The same architecture supports future APIs, automation, and integration with command centers.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8. Advantages Over Traditional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The project creates value by combining prediction, visualization, and actionability in one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74320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Operational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84832"/>
            <a:ext cx="235915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Faster identification of high-risk wards and hotspot clusters.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Single-screen visibility for weather, ward status, and predicted micro-hotspots.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Improves prioritization of pumps, drainage crews, and response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1645920"/>
            <a:ext cx="274320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7556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Technical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084832"/>
            <a:ext cx="235915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Ensemble ML reduces overdependence on one model.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Geospatial interpolation makes sparse rainfall observations useful at city scale.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API + database layer supports reproducibility and traceable scenario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0528" y="1645920"/>
            <a:ext cx="246888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75564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User 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2084832"/>
            <a:ext cx="208483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Searchable, explorable interface instead of raw spreadsheets.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Ward-level prevention and response guidance improves usability.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Built for both analysts and field operators.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1432" y="1645920"/>
            <a:ext cx="246888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75564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Strategic 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84832"/>
            <a:ext cx="208483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Supports preparedness, not just post-disaster reporting.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Creates a data-backed basis for urban resilience planning.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Can become a reusable city intelligence framework.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9. Scale-Up Impact And Future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When scaled, this platform can move from a Delhi-centric pilot to a regional decision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657600" cy="452628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What Happens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327355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City-level adoption can connect ward offices, emergency response teams, and headquarters into one risk-awareness workflow.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State-level deployment can compare hotspots across districts and allocate resources where they are most needed.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National deployment can support monsoon preparedness frameworks and climate-resilience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474720" cy="452628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0992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What Should Be Added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39112"/>
            <a:ext cx="309067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PostgreSQL for stronger multi-user scalability.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Cloud deployment for always-on access.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IoT rain gauges, live drains, and sensor feeds for real-time updates.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SMS alerts, public dashboards, and multilingual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493008" cy="452628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09928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Impact If Expanded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39112"/>
            <a:ext cx="3108960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Reduced response time during heavy rainfall events.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Better infrastructure planning from historical and simulated risk patterns.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Improved citizen safety, lower disruption, and smarter public spending.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A replicable urban flood intelligence model for other Indian cities.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10. Closing, Roadmap, And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BFD6"/>
                </a:solidFill>
              </a:rPr>
              <a:t>This project is not just a map. It is a decision system that turns climate-linked uncertainty into visible, actionable, and scalable urban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56616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Immediate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318211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Refine ward-risk calibration with newer local observations.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Expand scenario testing beyond rainfall to drainage failure and population stress.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Add richer reporting, export views, and stakeholder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91640"/>
            <a:ext cx="356616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8013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Medium-Term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130552"/>
            <a:ext cx="318211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Migrate storage from SQLite to PostgreSQL for production use.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Deploy backend and frontend to cloud infrastructure.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Add monitoring, authentication, and role-based access for government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383280" cy="4389120"/>
          </a:xfrm>
          <a:prstGeom prst="roundRect">
            <a:avLst/>
          </a:prstGeom>
          <a:solidFill>
            <a:srgbClr val="0F1E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0136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Final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130552"/>
            <a:ext cx="2999232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Flood resilience improves when prediction, communication, and action planning exist together.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Our platform brings those elements into one operational workflow.</a:t>
            </a:r>
          </a:p>
          <a:p>
            <a:pPr>
              <a:spcAft>
                <a:spcPts val="600"/>
              </a:spcAft>
              <a:defRPr sz="1100">
                <a:solidFill>
                  <a:srgbClr val="B4BFD6"/>
                </a:solidFill>
              </a:defRPr>
            </a:pPr>
            <a:r>
              <a:t>That is the core impact and long-term value of this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FD6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